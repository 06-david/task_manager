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378" r:id="rId2"/>
    <p:sldId id="379" r:id="rId3"/>
    <p:sldId id="380" r:id="rId4"/>
    <p:sldId id="382" r:id="rId5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61"/>
    <p:restoredTop sz="67899"/>
  </p:normalViewPr>
  <p:slideViewPr>
    <p:cSldViewPr snapToGrid="0">
      <p:cViewPr varScale="1">
        <p:scale>
          <a:sx n="77" d="100"/>
          <a:sy n="77" d="100"/>
        </p:scale>
        <p:origin x="20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337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t>单击此处编辑母版副标题样式</a:t>
            </a:r>
          </a:p>
        </p:txBody>
      </p:sp>
    </p:spTree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</p:spTree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2"/>
            <a:ext cx="7886700" cy="2852737"/>
          </a:xfrm>
        </p:spPr>
        <p:txBody>
          <a:bodyPr anchor="b"/>
          <a:lstStyle>
            <a:lvl1pPr>
              <a:buNone/>
              <a:defRPr sz="337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7"/>
            <a:ext cx="7886700" cy="1500187"/>
          </a:xfrm>
        </p:spPr>
        <p:txBody>
          <a:bodyPr/>
          <a:lstStyle>
            <a:lvl1pPr marL="0" indent="0">
              <a:buNone/>
              <a:defRPr sz="1350"/>
            </a:lvl1pPr>
            <a:lvl2pPr marL="257175" indent="0">
              <a:buNone/>
              <a:defRPr sz="1125"/>
            </a:lvl2pPr>
            <a:lvl3pPr marL="514350" indent="0">
              <a:buNone/>
              <a:defRPr sz="1015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1" y="1219200"/>
            <a:ext cx="4038600" cy="4419600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4648200" y="1219200"/>
            <a:ext cx="4038600" cy="4419600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</p:spTree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9"/>
            <a:ext cx="78867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40" y="1681163"/>
            <a:ext cx="3868737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30240" y="2505075"/>
            <a:ext cx="386873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</p:spTree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40" y="457200"/>
            <a:ext cx="2949575" cy="1600200"/>
          </a:xfrm>
        </p:spPr>
        <p:txBody>
          <a:bodyPr anchor="b"/>
          <a:lstStyle>
            <a:lvl1pPr>
              <a:buNone/>
              <a:defRPr sz="18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9"/>
            <a:ext cx="4629150" cy="4873625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575"/>
            </a:lvl2pPr>
            <a:lvl3pPr>
              <a:buNone/>
              <a:defRPr sz="1350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30240" y="2057400"/>
            <a:ext cx="2949575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40" y="457200"/>
            <a:ext cx="2949575" cy="1600200"/>
          </a:xfrm>
        </p:spPr>
        <p:txBody>
          <a:bodyPr anchor="b"/>
          <a:lstStyle>
            <a:lvl1pPr>
              <a:buNone/>
              <a:defRPr sz="18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9"/>
            <a:ext cx="462915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>
              <a:buNone/>
            </a:pPr>
            <a:r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30240" y="2057400"/>
            <a:ext cx="2949575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</p:spTree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364162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idx="1"/>
          </p:nvPr>
        </p:nvSpPr>
        <p:spPr>
          <a:xfrm>
            <a:off x="457201" y="274638"/>
            <a:ext cx="6019800" cy="5364162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</p:spTree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6665" y="4343404"/>
            <a:ext cx="7690115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单击以编辑母版副标题样式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" hasCustomPrompt="1"/>
          </p:nvPr>
        </p:nvSpPr>
        <p:spPr>
          <a:xfrm>
            <a:off x="456665" y="2619977"/>
            <a:ext cx="7690115" cy="1384994"/>
          </a:xfrm>
        </p:spPr>
        <p:txBody>
          <a:bodyPr>
            <a:noAutofit/>
          </a:bodyPr>
          <a:lstStyle>
            <a:lvl1pPr marL="0" indent="0" algn="l">
              <a:buFont typeface="Arial" panose="020B0704020202020204"/>
              <a:buNone/>
              <a:defRPr sz="3715" b="1" i="1" u="none" kern="1200" cap="none" spc="-362" baseline="0">
                <a:ln w="11430"/>
                <a:gradFill>
                  <a:gsLst>
                    <a:gs pos="0">
                      <a:srgbClr val="0066FF"/>
                    </a:gs>
                    <a:gs pos="28000">
                      <a:srgbClr val="2E59B0"/>
                    </a:gs>
                    <a:gs pos="62000">
                      <a:srgbClr val="2B395F"/>
                    </a:gs>
                    <a:gs pos="88000">
                      <a:srgbClr val="000000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r>
              <a:t>编辑母版文本样式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6664" y="4343401"/>
            <a:ext cx="7690114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单击此处编辑母版副标题样式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"/>
          </p:nvPr>
        </p:nvSpPr>
        <p:spPr>
          <a:xfrm>
            <a:off x="456664" y="2619977"/>
            <a:ext cx="7690114" cy="1384994"/>
          </a:xfrm>
        </p:spPr>
        <p:txBody>
          <a:bodyPr>
            <a:noAutofit/>
          </a:bodyPr>
          <a:lstStyle>
            <a:lvl1pPr marL="0" indent="0" algn="l">
              <a:buFont typeface="Arial" panose="020B0704020202020204"/>
              <a:buNone/>
              <a:defRPr sz="4950" b="1" i="1" u="none" kern="1200" cap="none" spc="-482" baseline="0">
                <a:ln w="11430"/>
                <a:gradFill>
                  <a:gsLst>
                    <a:gs pos="0">
                      <a:srgbClr val="0066FF"/>
                    </a:gs>
                    <a:gs pos="28000">
                      <a:srgbClr val="2E59B0"/>
                    </a:gs>
                    <a:gs pos="62000">
                      <a:srgbClr val="2B395F"/>
                    </a:gs>
                    <a:gs pos="88000">
                      <a:srgbClr val="000000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endParaRPr/>
          </a:p>
        </p:txBody>
      </p:sp>
      <p:pic>
        <p:nvPicPr>
          <p:cNvPr id="12" name="Picture 6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" y="298756"/>
            <a:ext cx="9143999" cy="2215844"/>
          </a:xfrm>
          <a:prstGeom prst="rect">
            <a:avLst/>
          </a:prstGeom>
          <a:ln w="9525">
            <a:noFill/>
            <a:miter/>
          </a:ln>
        </p:spPr>
      </p:pic>
      <p:graphicFrame>
        <p:nvGraphicFramePr>
          <p:cNvPr id="13" name="Group 78"/>
          <p:cNvGraphicFramePr/>
          <p:nvPr/>
        </p:nvGraphicFramePr>
        <p:xfrm>
          <a:off x="-595" y="-2"/>
          <a:ext cx="9144597" cy="2433568"/>
        </p:xfrm>
        <a:graphic>
          <a:graphicData uri="http://schemas.openxmlformats.org/drawingml/2006/table">
            <a:tbl>
              <a:tblPr/>
              <a:tblGrid>
                <a:gridCol w="91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4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44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867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B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5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67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>
                        <a:alpha val="7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67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21966" marR="121966" marT="61007" marB="61007" horzOverflow="overflow">
                    <a:lnL w="76200" cmpd="sng">
                      <a:solidFill>
                        <a:schemeClr val="bg1"/>
                      </a:solidFill>
                      <a:prstDash val="solid"/>
                    </a:lnL>
                    <a:lnR w="76200" cmpd="sng">
                      <a:solidFill>
                        <a:schemeClr val="bg1"/>
                      </a:solidFill>
                      <a:prstDash val="solid"/>
                    </a:lnR>
                    <a:lnT w="76200" cmpd="sng">
                      <a:solidFill>
                        <a:schemeClr val="bg1"/>
                      </a:solidFill>
                      <a:prstDash val="solid"/>
                    </a:lnT>
                    <a:lnB w="76200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5" name="Picture 7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</p:pic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5123" name="Rectangle 3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/>
  <p:txStyles>
    <p:titleStyle>
      <a:lvl1pPr algn="ctr">
        <a:spcBef>
          <a:spcPct val="0"/>
        </a:spcBef>
        <a:spcAft>
          <a:spcPct val="0"/>
        </a:spcAft>
        <a:buNone/>
        <a:defRPr sz="3200" kern="1200">
          <a:solidFill>
            <a:schemeClr val="tx2"/>
          </a:solidFill>
          <a:latin typeface="+mj-lt"/>
          <a:ea typeface="+mj-lt"/>
          <a:cs typeface="+mj-lt"/>
        </a:defRPr>
      </a:lvl1pPr>
      <a:lvl2pPr algn="ctr">
        <a:spcBef>
          <a:spcPct val="0"/>
        </a:spcBef>
        <a:spcAft>
          <a:spcPct val="0"/>
        </a:spcAft>
        <a:buNone/>
        <a:defRPr sz="2250">
          <a:solidFill>
            <a:schemeClr val="tx2"/>
          </a:solidFill>
          <a:latin typeface="Arial" panose="020B0704020202020204"/>
          <a:ea typeface="Arial" panose="020B0704020202020204"/>
          <a:cs typeface="Arial" panose="020B0704020202020204"/>
        </a:defRPr>
      </a:lvl2pPr>
      <a:lvl3pPr algn="ctr">
        <a:spcBef>
          <a:spcPct val="0"/>
        </a:spcBef>
        <a:spcAft>
          <a:spcPct val="0"/>
        </a:spcAft>
        <a:buNone/>
        <a:defRPr sz="2250">
          <a:solidFill>
            <a:schemeClr val="tx2"/>
          </a:solidFill>
          <a:latin typeface="Arial" panose="020B0704020202020204"/>
          <a:ea typeface="Arial" panose="020B0704020202020204"/>
          <a:cs typeface="Arial" panose="020B0704020202020204"/>
        </a:defRPr>
      </a:lvl3pPr>
      <a:lvl4pPr algn="ctr">
        <a:spcBef>
          <a:spcPct val="0"/>
        </a:spcBef>
        <a:spcAft>
          <a:spcPct val="0"/>
        </a:spcAft>
        <a:buNone/>
        <a:defRPr sz="2250">
          <a:solidFill>
            <a:schemeClr val="tx2"/>
          </a:solidFill>
          <a:latin typeface="Arial" panose="020B0704020202020204"/>
          <a:ea typeface="Arial" panose="020B0704020202020204"/>
          <a:cs typeface="Arial" panose="020B0704020202020204"/>
        </a:defRPr>
      </a:lvl4pPr>
      <a:lvl5pPr algn="ctr">
        <a:spcBef>
          <a:spcPct val="0"/>
        </a:spcBef>
        <a:spcAft>
          <a:spcPct val="0"/>
        </a:spcAft>
        <a:buNone/>
        <a:defRPr sz="2250">
          <a:solidFill>
            <a:schemeClr val="tx2"/>
          </a:solidFill>
          <a:latin typeface="Arial" panose="020B0704020202020204"/>
          <a:ea typeface="Arial" panose="020B0704020202020204"/>
          <a:cs typeface="Arial" panose="020B0704020202020204"/>
        </a:defRPr>
      </a:lvl5pPr>
      <a:lvl6pPr marL="257175" algn="ctr">
        <a:spcBef>
          <a:spcPct val="0"/>
        </a:spcBef>
        <a:spcAft>
          <a:spcPct val="0"/>
        </a:spcAft>
        <a:buNone/>
        <a:defRPr sz="2250">
          <a:solidFill>
            <a:schemeClr val="tx2"/>
          </a:solidFill>
          <a:latin typeface="Arial" panose="020B0704020202020204"/>
          <a:ea typeface="Arial" panose="020B0704020202020204"/>
          <a:cs typeface="Arial" panose="020B0704020202020204"/>
        </a:defRPr>
      </a:lvl6pPr>
      <a:lvl7pPr marL="514350" algn="ctr">
        <a:spcBef>
          <a:spcPct val="0"/>
        </a:spcBef>
        <a:spcAft>
          <a:spcPct val="0"/>
        </a:spcAft>
        <a:buNone/>
        <a:defRPr sz="2250">
          <a:solidFill>
            <a:schemeClr val="tx2"/>
          </a:solidFill>
          <a:latin typeface="Arial" panose="020B0704020202020204"/>
          <a:ea typeface="Arial" panose="020B0704020202020204"/>
          <a:cs typeface="Arial" panose="020B0704020202020204"/>
        </a:defRPr>
      </a:lvl7pPr>
      <a:lvl8pPr marL="771525" algn="ctr">
        <a:spcBef>
          <a:spcPct val="0"/>
        </a:spcBef>
        <a:spcAft>
          <a:spcPct val="0"/>
        </a:spcAft>
        <a:buNone/>
        <a:defRPr sz="2250">
          <a:solidFill>
            <a:schemeClr val="tx2"/>
          </a:solidFill>
          <a:latin typeface="Arial" panose="020B0704020202020204"/>
          <a:ea typeface="Arial" panose="020B0704020202020204"/>
          <a:cs typeface="Arial" panose="020B0704020202020204"/>
        </a:defRPr>
      </a:lvl8pPr>
      <a:lvl9pPr marL="1028700" algn="ctr">
        <a:spcBef>
          <a:spcPct val="0"/>
        </a:spcBef>
        <a:spcAft>
          <a:spcPct val="0"/>
        </a:spcAft>
        <a:buNone/>
        <a:defRPr sz="2250">
          <a:solidFill>
            <a:schemeClr val="tx2"/>
          </a:solidFill>
          <a:latin typeface="Arial" panose="020B0704020202020204"/>
          <a:ea typeface="Arial" panose="020B0704020202020204"/>
          <a:cs typeface="Arial" panose="020B0704020202020204"/>
        </a:defRPr>
      </a:lvl9pPr>
    </p:titleStyle>
    <p:bodyStyle>
      <a:lvl1pPr marL="193040" indent="-193040" algn="l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417830" indent="-160655" algn="l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楷体"/>
          <a:ea typeface="楷体"/>
          <a:cs typeface="楷体"/>
        </a:defRPr>
      </a:lvl2pPr>
      <a:lvl3pPr marL="643255" indent="-128905" algn="l">
        <a:spcBef>
          <a:spcPct val="20000"/>
        </a:spcBef>
        <a:spcAft>
          <a:spcPct val="0"/>
        </a:spcAft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900430" indent="-128905" algn="l">
        <a:spcBef>
          <a:spcPct val="20000"/>
        </a:spcBef>
        <a:spcAft>
          <a:spcPct val="0"/>
        </a:spcAft>
        <a:buChar char="–"/>
        <a:defRPr sz="1125" kern="1200">
          <a:solidFill>
            <a:schemeClr val="tx1"/>
          </a:solidFill>
          <a:latin typeface="+mn-lt"/>
          <a:ea typeface="+mn-lt"/>
          <a:cs typeface="+mn-lt"/>
        </a:defRPr>
      </a:lvl4pPr>
      <a:lvl5pPr marL="1157605" indent="-128905" algn="l">
        <a:spcBef>
          <a:spcPct val="20000"/>
        </a:spcBef>
        <a:spcAft>
          <a:spcPct val="0"/>
        </a:spcAft>
        <a:buChar char="»"/>
        <a:defRPr sz="1125" kern="1200">
          <a:solidFill>
            <a:schemeClr val="tx1"/>
          </a:solidFill>
          <a:latin typeface="+mn-lt"/>
          <a:ea typeface="+mn-lt"/>
          <a:cs typeface="+mn-lt"/>
        </a:defRPr>
      </a:lvl5pPr>
      <a:lvl6pPr marL="1414780" indent="-128905" algn="l" defTabSz="514350">
        <a:lnSpc>
          <a:spcPct val="90000"/>
        </a:lnSpc>
        <a:spcBef>
          <a:spcPts val="280"/>
        </a:spcBef>
        <a:buFont typeface="Arial" panose="020B0704020202020204"/>
        <a:buChar char="•"/>
        <a:defRPr sz="1015" kern="1200">
          <a:solidFill>
            <a:schemeClr val="tx1"/>
          </a:solidFill>
          <a:latin typeface="+mn-lt"/>
          <a:ea typeface="+mn-lt"/>
          <a:cs typeface="+mn-lt"/>
        </a:defRPr>
      </a:lvl6pPr>
      <a:lvl7pPr marL="1671955" indent="-128905" algn="l" defTabSz="514350">
        <a:lnSpc>
          <a:spcPct val="90000"/>
        </a:lnSpc>
        <a:spcBef>
          <a:spcPts val="280"/>
        </a:spcBef>
        <a:buFont typeface="Arial" panose="020B0704020202020204"/>
        <a:buChar char="•"/>
        <a:defRPr sz="1015" kern="1200">
          <a:solidFill>
            <a:schemeClr val="tx1"/>
          </a:solidFill>
          <a:latin typeface="+mn-lt"/>
          <a:ea typeface="+mn-lt"/>
          <a:cs typeface="+mn-lt"/>
        </a:defRPr>
      </a:lvl7pPr>
      <a:lvl8pPr marL="1929130" indent="-128905" algn="l" defTabSz="514350">
        <a:lnSpc>
          <a:spcPct val="90000"/>
        </a:lnSpc>
        <a:spcBef>
          <a:spcPts val="280"/>
        </a:spcBef>
        <a:buFont typeface="Arial" panose="020B0704020202020204"/>
        <a:buChar char="•"/>
        <a:defRPr sz="1015" kern="1200">
          <a:solidFill>
            <a:schemeClr val="tx1"/>
          </a:solidFill>
          <a:latin typeface="+mn-lt"/>
          <a:ea typeface="+mn-lt"/>
          <a:cs typeface="+mn-lt"/>
        </a:defRPr>
      </a:lvl8pPr>
      <a:lvl9pPr marL="2186305" indent="-128905" algn="l" defTabSz="514350">
        <a:lnSpc>
          <a:spcPct val="90000"/>
        </a:lnSpc>
        <a:spcBef>
          <a:spcPts val="280"/>
        </a:spcBef>
        <a:buFont typeface="Arial" panose="020B0704020202020204"/>
        <a:buChar char="•"/>
        <a:defRPr sz="101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514350">
        <a:buNone/>
        <a:defRPr sz="1015" kern="1200">
          <a:solidFill>
            <a:schemeClr val="tx1"/>
          </a:solidFill>
          <a:latin typeface="+mn-lt"/>
          <a:ea typeface="+mn-lt"/>
          <a:cs typeface="+mn-lt"/>
        </a:defRPr>
      </a:lvl1pPr>
      <a:lvl2pPr marL="257175" algn="l" defTabSz="514350">
        <a:buNone/>
        <a:defRPr sz="1015" kern="1200">
          <a:solidFill>
            <a:schemeClr val="tx1"/>
          </a:solidFill>
          <a:latin typeface="+mn-lt"/>
          <a:ea typeface="+mn-lt"/>
          <a:cs typeface="+mn-lt"/>
        </a:defRPr>
      </a:lvl2pPr>
      <a:lvl3pPr marL="514350" algn="l" defTabSz="514350">
        <a:buNone/>
        <a:defRPr sz="1015" kern="1200">
          <a:solidFill>
            <a:schemeClr val="tx1"/>
          </a:solidFill>
          <a:latin typeface="+mn-lt"/>
          <a:ea typeface="+mn-lt"/>
          <a:cs typeface="+mn-lt"/>
        </a:defRPr>
      </a:lvl3pPr>
      <a:lvl4pPr marL="771525" algn="l" defTabSz="514350">
        <a:buNone/>
        <a:defRPr sz="1015" kern="1200">
          <a:solidFill>
            <a:schemeClr val="tx1"/>
          </a:solidFill>
          <a:latin typeface="+mn-lt"/>
          <a:ea typeface="+mn-lt"/>
          <a:cs typeface="+mn-lt"/>
        </a:defRPr>
      </a:lvl4pPr>
      <a:lvl5pPr marL="1028700" algn="l" defTabSz="514350">
        <a:buNone/>
        <a:defRPr sz="1015" kern="1200">
          <a:solidFill>
            <a:schemeClr val="tx1"/>
          </a:solidFill>
          <a:latin typeface="+mn-lt"/>
          <a:ea typeface="+mn-lt"/>
          <a:cs typeface="+mn-lt"/>
        </a:defRPr>
      </a:lvl5pPr>
      <a:lvl6pPr marL="1285875" algn="l" defTabSz="514350">
        <a:buNone/>
        <a:defRPr sz="1015" kern="1200">
          <a:solidFill>
            <a:schemeClr val="tx1"/>
          </a:solidFill>
          <a:latin typeface="+mn-lt"/>
          <a:ea typeface="+mn-lt"/>
          <a:cs typeface="+mn-lt"/>
        </a:defRPr>
      </a:lvl6pPr>
      <a:lvl7pPr marL="1543050" algn="l" defTabSz="514350">
        <a:buNone/>
        <a:defRPr sz="1015" kern="1200">
          <a:solidFill>
            <a:schemeClr val="tx1"/>
          </a:solidFill>
          <a:latin typeface="+mn-lt"/>
          <a:ea typeface="+mn-lt"/>
          <a:cs typeface="+mn-lt"/>
        </a:defRPr>
      </a:lvl7pPr>
      <a:lvl8pPr marL="1800225" algn="l" defTabSz="514350">
        <a:buNone/>
        <a:defRPr sz="1015" kern="1200">
          <a:solidFill>
            <a:schemeClr val="tx1"/>
          </a:solidFill>
          <a:latin typeface="+mn-lt"/>
          <a:ea typeface="+mn-lt"/>
          <a:cs typeface="+mn-lt"/>
        </a:defRPr>
      </a:lvl8pPr>
      <a:lvl9pPr marL="2057400" algn="l" defTabSz="514350">
        <a:buNone/>
        <a:defRPr sz="101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unoob.com/vibe-coding/vibe-coding-practice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8D24B6-92AF-6A85-E00E-37E90111B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37"/>
            <a:ext cx="8229600" cy="792162"/>
          </a:xfrm>
        </p:spPr>
        <p:txBody>
          <a:bodyPr/>
          <a:lstStyle/>
          <a:p>
            <a:r>
              <a:rPr kumimoji="1" lang="zh-CN" altLang="en-US" dirty="0">
                <a:latin typeface="+mj-ea"/>
                <a:ea typeface="+mj-ea"/>
              </a:rPr>
              <a:t>课堂实践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F9588F-3CD4-A23C-6D8C-735184C49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34808"/>
            <a:ext cx="8686800" cy="4419600"/>
          </a:xfrm>
        </p:spPr>
        <p:txBody>
          <a:bodyPr/>
          <a:lstStyle/>
          <a:p>
            <a:r>
              <a:rPr kumimoji="1"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现在让我们通过 </a:t>
            </a:r>
            <a:r>
              <a:rPr kumimoji="1" lang="en-US" altLang="zh-CN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Agentic</a:t>
            </a:r>
            <a:r>
              <a:rPr kumimoji="1"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开发实现一个完整的</a:t>
            </a:r>
            <a:r>
              <a:rPr kumimoji="1" lang="zh-CN" altLang="en-US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任务管理应用</a:t>
            </a:r>
            <a:endParaRPr kumimoji="1" lang="en-US" altLang="zh-CN" sz="28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kumimoji="1"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功能需求</a:t>
            </a:r>
            <a:endParaRPr kumimoji="1" lang="en-US" altLang="zh-CN" sz="2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任务增删改查：标题必填、描述选填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三种状态：待办 </a:t>
            </a:r>
            <a:r>
              <a:rPr kumimoji="1"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</a:t>
            </a:r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进行中 </a:t>
            </a:r>
            <a:r>
              <a:rPr kumimoji="1"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</a:t>
            </a:r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完成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优先级三档：高（红）、中（黄）、低（绿）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看板视图：三列卡片，拖拽即改状态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深色模式：一键切换，记住选择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数据存在浏览器：刷新不丢失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406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95F17-7DA1-2CC4-C13C-3A1626201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8EB837-782B-4FFE-D02A-1B69B44F0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37"/>
            <a:ext cx="8229600" cy="792162"/>
          </a:xfrm>
        </p:spPr>
        <p:txBody>
          <a:bodyPr/>
          <a:lstStyle/>
          <a:p>
            <a:r>
              <a:rPr kumimoji="1" lang="zh-CN" altLang="en-US" dirty="0">
                <a:latin typeface="+mj-ea"/>
                <a:ea typeface="+mj-ea"/>
              </a:rPr>
              <a:t>课堂实践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BF8FBD-A8A6-8326-356D-7E9B3534B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34808"/>
            <a:ext cx="8686800" cy="4419600"/>
          </a:xfrm>
        </p:spPr>
        <p:txBody>
          <a:bodyPr/>
          <a:lstStyle/>
          <a:p>
            <a:r>
              <a:rPr kumimoji="1" lang="zh-CN" altLang="en-US" sz="3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推荐的技术选型：</a:t>
            </a:r>
            <a:endParaRPr kumimoji="1" lang="en-US" altLang="zh-CN" sz="3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前端框架：</a:t>
            </a:r>
            <a:r>
              <a:rPr kumimoji="1"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Vue</a:t>
            </a:r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构建工具：</a:t>
            </a:r>
            <a:r>
              <a:rPr kumimoji="1"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Vite</a:t>
            </a: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样式方案：</a:t>
            </a:r>
            <a:r>
              <a:rPr kumimoji="1"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Tailwind</a:t>
            </a:r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CSS</a:t>
            </a: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数据存储：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localStorage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参考 </a:t>
            </a:r>
            <a:r>
              <a:rPr kumimoji="1" lang="en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2"/>
              </a:rPr>
              <a:t>https://</a:t>
            </a:r>
            <a:r>
              <a:rPr kumimoji="1" lang="en" altLang="zh-CN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2"/>
              </a:rPr>
              <a:t>www.runoob.com</a:t>
            </a:r>
            <a:r>
              <a:rPr kumimoji="1" lang="en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2"/>
              </a:rPr>
              <a:t>/vibe-coding/vibe-coding-</a:t>
            </a:r>
            <a:r>
              <a:rPr kumimoji="1" lang="en" altLang="zh-CN" sz="24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2"/>
              </a:rPr>
              <a:t>practice.html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18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01655-1697-8A2E-AF1B-599094BAF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3CD22D-7819-2FB3-1F4D-AC915DF8C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37"/>
            <a:ext cx="8229600" cy="792162"/>
          </a:xfrm>
        </p:spPr>
        <p:txBody>
          <a:bodyPr/>
          <a:lstStyle/>
          <a:p>
            <a:r>
              <a:rPr kumimoji="1" lang="zh-CN" altLang="en-US" dirty="0">
                <a:latin typeface="+mj-ea"/>
                <a:ea typeface="+mj-ea"/>
              </a:rPr>
              <a:t>课堂实践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3B3734-6F58-6842-2615-DFB6D3975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34808"/>
            <a:ext cx="8686800" cy="4419600"/>
          </a:xfrm>
        </p:spPr>
        <p:txBody>
          <a:bodyPr/>
          <a:lstStyle/>
          <a:p>
            <a:r>
              <a:rPr kumimoji="1"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项目分解与多步开发</a:t>
            </a:r>
            <a:endParaRPr kumimoji="1" lang="en-US" altLang="zh-CN" sz="2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确认项目骨架，整体结构以及目录结构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开发核心功能：任务列表与清单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数据持久化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开发看板视图，以及前端交互逻辑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kumimoji="1"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每一轮都遵循计划 </a:t>
            </a:r>
            <a:r>
              <a:rPr kumimoji="1" lang="en-US" altLang="zh-CN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–</a:t>
            </a:r>
            <a:r>
              <a:rPr kumimoji="1"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执行 </a:t>
            </a:r>
            <a:r>
              <a:rPr kumimoji="1" lang="en-US" altLang="zh-CN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–</a:t>
            </a:r>
            <a:r>
              <a:rPr kumimoji="1"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确认流程</a:t>
            </a:r>
            <a:endParaRPr kumimoji="1" lang="en-US" altLang="zh-CN" sz="2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说清本轮目标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Agent</a:t>
            </a:r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执行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浏览器验证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Git</a:t>
            </a:r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commit</a:t>
            </a:r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，再进下一轮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endParaRPr kumimoji="1" lang="en-US" altLang="zh-CN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40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288EC-6A83-8F9A-C712-A23D9EF8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590037-AE26-20C2-25AA-1ED20BBBB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37"/>
            <a:ext cx="8229600" cy="792162"/>
          </a:xfrm>
        </p:spPr>
        <p:txBody>
          <a:bodyPr/>
          <a:lstStyle/>
          <a:p>
            <a:r>
              <a:rPr kumimoji="1" lang="zh-CN" altLang="en-US" dirty="0">
                <a:latin typeface="+mj-ea"/>
                <a:ea typeface="+mj-ea"/>
              </a:rPr>
              <a:t>课堂实践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866F32-55DE-C167-12F4-71D67A276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34808"/>
            <a:ext cx="8686800" cy="4419600"/>
          </a:xfrm>
        </p:spPr>
        <p:txBody>
          <a:bodyPr/>
          <a:lstStyle/>
          <a:p>
            <a:r>
              <a:rPr kumimoji="1"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展示开发完成的任务管理应用</a:t>
            </a:r>
            <a:endParaRPr kumimoji="1" lang="en-US" altLang="zh-CN" sz="2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演示核心的功能需求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kumimoji="1"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展示 </a:t>
            </a:r>
            <a:r>
              <a:rPr kumimoji="1" lang="en-US" altLang="zh-CN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Agentic</a:t>
            </a:r>
            <a:r>
              <a:rPr kumimoji="1"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开发流程</a:t>
            </a:r>
            <a:endParaRPr kumimoji="1" lang="en-US" altLang="zh-CN" sz="2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提示词设计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/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多轮迭代的开发过程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kumimoji="1"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课堂实践限时：</a:t>
            </a:r>
            <a:r>
              <a:rPr kumimoji="1" lang="en-US" altLang="zh-CN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20-25</a:t>
            </a:r>
            <a:r>
              <a:rPr kumimoji="1"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</a:t>
            </a:r>
            <a:r>
              <a:rPr kumimoji="1"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，报告 </a:t>
            </a:r>
            <a:r>
              <a:rPr kumimoji="1" lang="en-US" altLang="zh-CN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5-10</a:t>
            </a:r>
            <a:r>
              <a:rPr kumimoji="1"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</a:t>
            </a:r>
          </a:p>
          <a:p>
            <a:pPr lvl="1"/>
            <a:endParaRPr kumimoji="1" lang="en-US" altLang="zh-CN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71819"/>
      </p:ext>
    </p:extLst>
  </p:cSld>
  <p:clrMapOvr>
    <a:masterClrMapping/>
  </p:clrMapOvr>
</p:sld>
</file>

<file path=ppt/theme/theme1.xml><?xml version="1.0" encoding="utf-8"?>
<a:theme xmlns:a="http://schemas.openxmlformats.org/drawingml/2006/main" name="2_北大主题">
  <a:themeElements>
    <a:clrScheme name="正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正文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正文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北大主题">
  <a:themeElements>
    <a:clrScheme name="正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正文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正文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2336</TotalTime>
  <Words>226</Words>
  <Application>Microsoft Macintosh PowerPoint</Application>
  <PresentationFormat>全屏显示(4:3)</PresentationFormat>
  <Paragraphs>34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黑体</vt:lpstr>
      <vt:lpstr>楷体</vt:lpstr>
      <vt:lpstr>Arial</vt:lpstr>
      <vt:lpstr>Times New Roman</vt:lpstr>
      <vt:lpstr>2_北大主题</vt:lpstr>
      <vt:lpstr>课堂实践</vt:lpstr>
      <vt:lpstr>课堂实践</vt:lpstr>
      <vt:lpstr>课堂实践</vt:lpstr>
      <vt:lpstr>课堂实践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Agent 的软件开发</dc:title>
  <dc:creator>Walnut Exporter</dc:creator>
  <cp:lastModifiedBy>潇晗 赵</cp:lastModifiedBy>
  <cp:revision>66</cp:revision>
  <dcterms:created xsi:type="dcterms:W3CDTF">2026-08-27T12:02:46Z</dcterms:created>
  <dcterms:modified xsi:type="dcterms:W3CDTF">2026-09-20T08:59:25Z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064922F8F257AB976627906AE0983385_43</vt:lpwstr>
  </property>
  <property fmtid="{D5CDD505-2E9C-101B-9397-08002B2CF9AE}" pid="3" name="KSOProductBuildVer">
    <vt:lpwstr>2052-12.1.22553.22553</vt:lpwstr>
  </property>
</Properties>
</file>